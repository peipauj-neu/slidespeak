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media/media3.mp3" ContentType="audio/mpeg"/>
  <Override PartName="/ppt/media/media4.mp3" ContentType="audio/mpeg"/>
  <Override PartName="/ppt/media/media5.mp3" ContentType="audio/m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discuss mass. Mass is the measure of how much matter an object contains, expressed in grams or kilograms. Unlike weight, mass does not change based on gravitational pull, making it a fundamental property of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let's discuss volume. Volume describes the three-dimensional space an object fills. For regular solids we multiply length, width, and height; for irregular objects we rely on the water displacement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Density ties mass and volume together through the formula D equals M divided by V. It tells us how tightly matter is packed and is an intrinsic property, meaning it stays the same no matter how large or small the sample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density triangle is a handy tool. Place Mass at the top, Density and Volume at the bottom. Cover the unknown variable and the triangle shows whether to multiply or divide.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solidify the concepts with three worked examples: finding density given mass and volume, finding volume given mass and density, and finding mass given density and volume. Each follows directly from D equals M divided by 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microsoft.com/office/2007/relationships/media" Target="../media/media2.mp3"/><Relationship Id="rId4" Type="http://schemas.openxmlformats.org/officeDocument/2006/relationships/video" Target="../media/media2.mp3"/><Relationship Id="rId5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microsoft.com/office/2007/relationships/media" Target="../media/media3.mp3"/><Relationship Id="rId4" Type="http://schemas.openxmlformats.org/officeDocument/2006/relationships/video" Target="../media/media3.mp3"/><Relationship Id="rId5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microsoft.com/office/2007/relationships/media" Target="../media/media4.mp3"/><Relationship Id="rId4" Type="http://schemas.openxmlformats.org/officeDocument/2006/relationships/video" Target="../media/media4.mp3"/><Relationship Id="rId5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microsoft.com/office/2007/relationships/media" Target="../media/media5.mp3"/><Relationship Id="rId4" Type="http://schemas.openxmlformats.org/officeDocument/2006/relationships/video" Target="../media/media5.mp3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Density, Mass, and Volume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Placeholder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4000"/>
            </a:pPr>
            <a:r>
              <a:t>What is Mass?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/>
            </a:pPr>
            <a:r>
              <a:t>Mass is the amount of matter in an object.</a:t>
            </a:r>
          </a:p>
          <a:p>
            <a:pPr lvl="1">
              <a:defRPr sz="1800"/>
            </a:pPr>
            <a:r>
              <a:t>Measured in grams (g) or kilograms (kg)</a:t>
            </a:r>
          </a:p>
          <a:p>
            <a:pPr lvl="1">
              <a:defRPr sz="1800"/>
            </a:pPr>
            <a:r>
              <a:t>Remains constant regardless of location</a:t>
            </a:r>
          </a:p>
          <a:p>
            <a:pPr lvl="1">
              <a:defRPr sz="1800"/>
            </a:pPr>
            <a:r>
              <a:t>Not the same as weight</a:t>
            </a:r>
          </a:p>
          <a:p>
            <a:pPr>
              <a:defRPr sz="2200"/>
            </a:pPr>
            <a:r>
              <a:t>Mass is measured with a balance scale.</a:t>
            </a:r>
          </a:p>
          <a:p>
            <a:pPr lvl="1">
              <a:defRPr sz="1800"/>
            </a:pPr>
            <a:r>
              <a:t>Triple-beam balances used in labs</a:t>
            </a:r>
          </a:p>
          <a:p>
            <a:pPr lvl="1">
              <a:defRPr sz="1800"/>
            </a:pPr>
            <a:r>
              <a:t>Electronic scales measure force and convert to mass</a:t>
            </a:r>
          </a:p>
        </p:txBody>
      </p:sp>
      <p:pic>
        <p:nvPicPr>
          <p:cNvPr id="4" name="slide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4000"/>
            </a:pPr>
            <a:r>
              <a:t>What is Volume?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/>
            </a:pPr>
            <a:r>
              <a:t>Volume is the amount of space an object occupies.</a:t>
            </a:r>
          </a:p>
          <a:p>
            <a:pPr lvl="1">
              <a:defRPr sz="1800"/>
            </a:pPr>
            <a:r>
              <a:t>Measured in cubic centimetres (cm³) or litres (L)</a:t>
            </a:r>
          </a:p>
          <a:p>
            <a:pPr lvl="1">
              <a:defRPr sz="1800"/>
            </a:pPr>
            <a:r>
              <a:t>Solids: length × width × height</a:t>
            </a:r>
          </a:p>
          <a:p>
            <a:pPr lvl="1">
              <a:defRPr sz="1800"/>
            </a:pPr>
            <a:r>
              <a:t>Irregular solids: water displacement method</a:t>
            </a:r>
          </a:p>
          <a:p>
            <a:pPr>
              <a:defRPr sz="2200"/>
            </a:pPr>
            <a:r>
              <a:t>Liquids are measured with a graduated cylinder.</a:t>
            </a:r>
          </a:p>
          <a:p>
            <a:pPr lvl="1">
              <a:defRPr sz="1800"/>
            </a:pPr>
            <a:r>
              <a:t>Read the bottom of the meniscus</a:t>
            </a:r>
          </a:p>
          <a:p>
            <a:pPr lvl="1">
              <a:defRPr sz="1800"/>
            </a:pPr>
            <a:r>
              <a:t>Parallax errors occur when not reading at eye level</a:t>
            </a:r>
          </a:p>
        </p:txBody>
      </p:sp>
      <p:pic>
        <p:nvPicPr>
          <p:cNvPr id="4" name="slide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4000"/>
            </a:pPr>
            <a:r>
              <a:t>What is Density?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/>
            </a:pPr>
            <a:r>
              <a:t>Density is mass per unit volume: D = M ÷ V</a:t>
            </a:r>
          </a:p>
          <a:p>
            <a:pPr lvl="1">
              <a:defRPr sz="1800"/>
            </a:pPr>
            <a:r>
              <a:t>Units: g/cm³ or kg/m³</a:t>
            </a:r>
          </a:p>
          <a:p>
            <a:pPr lvl="1">
              <a:defRPr sz="1800"/>
            </a:pPr>
            <a:r>
              <a:t>Intrinsic property — does not depend on sample size</a:t>
            </a:r>
          </a:p>
          <a:p>
            <a:pPr lvl="1">
              <a:defRPr sz="1800"/>
            </a:pPr>
            <a:r>
              <a:t>Used to identify substances</a:t>
            </a:r>
          </a:p>
        </p:txBody>
      </p:sp>
      <p:pic>
        <p:nvPicPr>
          <p:cNvPr id="4" name="slide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4000"/>
            </a:pPr>
            <a:r>
              <a:t>The Density Triangle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/>
            </a:pPr>
            <a:r>
              <a:t>A memory aid for rearranging D = M ÷ V</a:t>
            </a:r>
          </a:p>
          <a:p>
            <a:pPr lvl="1">
              <a:defRPr sz="1800"/>
            </a:pPr>
            <a:r>
              <a:t>Mass   = Density × Volume</a:t>
            </a:r>
          </a:p>
          <a:p>
            <a:pPr lvl="1">
              <a:defRPr sz="1800"/>
            </a:pPr>
            <a:r>
              <a:t>Volume = Mass ÷ Density</a:t>
            </a:r>
          </a:p>
          <a:p>
            <a:pPr lvl="1">
              <a:defRPr sz="1800"/>
            </a:pPr>
            <a:r>
              <a:t>Density = Mass ÷ Volume</a:t>
            </a:r>
          </a:p>
        </p:txBody>
      </p:sp>
      <p:pic>
        <p:nvPicPr>
          <p:cNvPr id="4" name="slide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4000"/>
            </a:pPr>
            <a:r>
              <a:t>Worked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/>
            </a:pPr>
            <a:r>
              <a:t>Example 1 — Find density</a:t>
            </a:r>
          </a:p>
          <a:p>
            <a:pPr lvl="1">
              <a:defRPr sz="1800"/>
            </a:pPr>
            <a:r>
              <a:t>Mass = 200 g, Volume = 25 cm³</a:t>
            </a:r>
          </a:p>
          <a:p>
            <a:pPr lvl="1">
              <a:defRPr sz="1800"/>
            </a:pPr>
            <a:r>
              <a:t>D = 200 ÷ 25 = 8 g/cm³  (copper)</a:t>
            </a:r>
          </a:p>
          <a:p>
            <a:pPr>
              <a:defRPr sz="2200"/>
            </a:pPr>
            <a:r>
              <a:t>Example 2 — Find volume</a:t>
            </a:r>
          </a:p>
          <a:p>
            <a:pPr lvl="1">
              <a:defRPr sz="1800"/>
            </a:pPr>
            <a:r>
              <a:t>Mass = 50 g, Density = 2.5 g/cm³</a:t>
            </a:r>
          </a:p>
          <a:p>
            <a:pPr lvl="1">
              <a:defRPr sz="1800"/>
            </a:pPr>
            <a:r>
              <a:t>V = 50 ÷ 2.5 = 20 cm³</a:t>
            </a:r>
          </a:p>
          <a:p>
            <a:pPr>
              <a:defRPr sz="2200"/>
            </a:pPr>
            <a:r>
              <a:t>Example 3 — Find mass</a:t>
            </a:r>
          </a:p>
          <a:p>
            <a:pPr lvl="1">
              <a:defRPr sz="1800"/>
            </a:pPr>
            <a:r>
              <a:t>Density = 1.0 g/cm³, Volume = 500 cm³</a:t>
            </a:r>
          </a:p>
          <a:p>
            <a:pPr lvl="1">
              <a:defRPr sz="1800"/>
            </a:pPr>
            <a:r>
              <a:t>M = 1.0 × 500 = 500 g  (water)</a:t>
            </a:r>
          </a:p>
        </p:txBody>
      </p:sp>
      <p:pic>
        <p:nvPicPr>
          <p:cNvPr id="4" name="slide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